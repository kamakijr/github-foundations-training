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1" r:id="rId5"/>
    <p:sldId id="2562" r:id="rId6"/>
    <p:sldId id="2563" r:id="rId7"/>
    <p:sldId id="2564" r:id="rId8"/>
    <p:sldId id="2565"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ing with GitHub Repositories" id="{D749E505-27DB-404D-98A8-4254E754F265}">
          <p14:sldIdLst>
            <p14:sldId id="2561"/>
          </p14:sldIdLst>
        </p14:section>
        <p14:section name="Manage Repository Settings" id="{5BDC7C73-2AAC-4670-A1CF-D39CC1FC6A1F}">
          <p14:sldIdLst>
            <p14:sldId id="2562"/>
            <p14:sldId id="2563"/>
            <p14:sldId id="2564"/>
            <p14:sldId id="2565"/>
          </p14:sldIdLst>
        </p14:section>
        <p14:section name="Work with Files in a Repository" id="{FB38432E-5164-4EB5-8327-7CD5B27DB528}">
          <p14:sldIdLst>
            <p14:sldId id="2566"/>
            <p14:sldId id="2567"/>
            <p14:sldId id="2568"/>
            <p14:sldId id="25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24420B-19AB-4ACC-959E-89818A6DB1A9}" v="12" dt="2025-11-18T00:25:21.4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165" d="100"/>
          <a:sy n="165" d="100"/>
        </p:scale>
        <p:origin x="148" y="272"/>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3B583-2127-4394-956E-862F01E9C5A2}" type="datetimeFigureOut">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C34B8-E403-4D61-AA11-881989BAF898}" type="slidenum">
              <a:t>‹#›</a:t>
            </a:fld>
            <a:endParaRPr lang="en-US"/>
          </a:p>
        </p:txBody>
      </p:sp>
    </p:spTree>
    <p:extLst>
      <p:ext uri="{BB962C8B-B14F-4D97-AF65-F5344CB8AC3E}">
        <p14:creationId xmlns:p14="http://schemas.microsoft.com/office/powerpoint/2010/main" val="2663870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AC3C3CC0-9D4C-4AA6-8931-017BC229EFED}" type="slidenum">
              <a:t>1</a:t>
            </a:fld>
            <a:endParaRPr lang="en-US"/>
          </a:p>
        </p:txBody>
      </p:sp>
    </p:spTree>
    <p:extLst>
      <p:ext uri="{BB962C8B-B14F-4D97-AF65-F5344CB8AC3E}">
        <p14:creationId xmlns:p14="http://schemas.microsoft.com/office/powerpoint/2010/main" val="117732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Configure repository settings, Set up repository permissions, Use repository templates</a:t>
            </a:r>
          </a:p>
        </p:txBody>
      </p:sp>
      <p:sp>
        <p:nvSpPr>
          <p:cNvPr id="4" name="Slide Number Placeholder 3"/>
          <p:cNvSpPr>
            <a:spLocks noGrp="1"/>
          </p:cNvSpPr>
          <p:nvPr>
            <p:ph type="sldNum" sz="quarter" idx="5"/>
          </p:nvPr>
        </p:nvSpPr>
        <p:spPr/>
        <p:txBody>
          <a:bodyPr/>
          <a:lstStyle/>
          <a:p>
            <a:fld id="{AC3C3CC0-9D4C-4AA6-8931-017BC229EFED}" type="slidenum">
              <a:t>2</a:t>
            </a:fld>
            <a:endParaRPr lang="en-US"/>
          </a:p>
        </p:txBody>
      </p:sp>
    </p:spTree>
    <p:extLst>
      <p:ext uri="{BB962C8B-B14F-4D97-AF65-F5344CB8AC3E}">
        <p14:creationId xmlns:p14="http://schemas.microsoft.com/office/powerpoint/2010/main" val="936383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Configuring repository settings in GitHub is a fundamental aspect of managing a project effectively. These settings allow users to define how the repository behaves, including visibility (public or private), default branches, and feature toggles such as issues, wikis, and GitHub Pages. Proper configuration ensures that collaborators have the right access and that the repository aligns with the project's goals. For example, setting a default branch helps streamline pull request workflows, while enabling or disabling features like discussions or actions can tailor the repository to specific collaboration needs. Additionally, repository settings include options for archiving, transferring ownership, and deleting the repository, all of which are critical for lifecycle management. Understanding and utilizing these settings empowers users to maintain control and ensure consistency across their GitHub projects.</a:t>
            </a:r>
          </a:p>
        </p:txBody>
      </p:sp>
      <p:sp>
        <p:nvSpPr>
          <p:cNvPr id="4" name="Slide Number Placeholder 3"/>
          <p:cNvSpPr>
            <a:spLocks noGrp="1"/>
          </p:cNvSpPr>
          <p:nvPr>
            <p:ph type="sldNum" sz="quarter" idx="5"/>
          </p:nvPr>
        </p:nvSpPr>
        <p:spPr/>
        <p:txBody>
          <a:bodyPr/>
          <a:lstStyle/>
          <a:p>
            <a:fld id="{AC3C3CC0-9D4C-4AA6-8931-017BC229EFED}" type="slidenum">
              <a:t>3</a:t>
            </a:fld>
            <a:endParaRPr lang="en-US"/>
          </a:p>
        </p:txBody>
      </p:sp>
    </p:spTree>
    <p:extLst>
      <p:ext uri="{BB962C8B-B14F-4D97-AF65-F5344CB8AC3E}">
        <p14:creationId xmlns:p14="http://schemas.microsoft.com/office/powerpoint/2010/main" val="408963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Setting up repository permissions is crucial for maintaining security and collaboration integrity within GitHub. Permissions determine who can read, write, or administer a repository. GitHub offers granular control through roles such as read-only, write access, and admin privileges. For organizations, teams can be created to manage access across multiple repositories efficiently. Assigning the correct permissions helps prevent unauthorized changes, ensures accountability, and supports collaborative workflows. For example, contributors may be given write access to submit changes, while maintainers retain admin rights to manage settings and merge pull requests. GitHub also supports fine-tuned access via branch protection rules, which can restrict who can push to certain branches or require reviews before merging. By thoughtfully configuring permissions, repository owners can foster a secure and productive development environment.</a:t>
            </a:r>
          </a:p>
        </p:txBody>
      </p:sp>
      <p:sp>
        <p:nvSpPr>
          <p:cNvPr id="4" name="Slide Number Placeholder 3"/>
          <p:cNvSpPr>
            <a:spLocks noGrp="1"/>
          </p:cNvSpPr>
          <p:nvPr>
            <p:ph type="sldNum" sz="quarter" idx="5"/>
          </p:nvPr>
        </p:nvSpPr>
        <p:spPr/>
        <p:txBody>
          <a:bodyPr/>
          <a:lstStyle/>
          <a:p>
            <a:fld id="{AC3C3CC0-9D4C-4AA6-8931-017BC229EFED}" type="slidenum">
              <a:t>4</a:t>
            </a:fld>
            <a:endParaRPr lang="en-US"/>
          </a:p>
        </p:txBody>
      </p:sp>
    </p:spTree>
    <p:extLst>
      <p:ext uri="{BB962C8B-B14F-4D97-AF65-F5344CB8AC3E}">
        <p14:creationId xmlns:p14="http://schemas.microsoft.com/office/powerpoint/2010/main" val="63243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Repository templates in GitHub provide a powerful way to standardize project setups and accelerate onboarding. A repository template is a pre-configured repository that includes essential files such as README.md, LICENSE, .gitignore, and even issue and pull request templates. When a new repository is created from a template, it inherits the structure and content, allowing teams to maintain consistency across projects. This is particularly useful in organizations where multiple teams work on similar types of projects, such as microservices or documentation sites. Templates can also include workflows for GitHub Actions, ensuring that CI/CD pipelines are set up from the start. By using repository templates, developers save time, reduce setup errors, and ensure that best practices are followed from the beginning of a project.</a:t>
            </a:r>
          </a:p>
        </p:txBody>
      </p:sp>
      <p:sp>
        <p:nvSpPr>
          <p:cNvPr id="4" name="Slide Number Placeholder 3"/>
          <p:cNvSpPr>
            <a:spLocks noGrp="1"/>
          </p:cNvSpPr>
          <p:nvPr>
            <p:ph type="sldNum" sz="quarter" idx="5"/>
          </p:nvPr>
        </p:nvSpPr>
        <p:spPr/>
        <p:txBody>
          <a:bodyPr/>
          <a:lstStyle/>
          <a:p>
            <a:fld id="{AC3C3CC0-9D4C-4AA6-8931-017BC229EFED}" type="slidenum">
              <a:t>5</a:t>
            </a:fld>
            <a:endParaRPr lang="en-US"/>
          </a:p>
        </p:txBody>
      </p:sp>
    </p:spTree>
    <p:extLst>
      <p:ext uri="{BB962C8B-B14F-4D97-AF65-F5344CB8AC3E}">
        <p14:creationId xmlns:p14="http://schemas.microsoft.com/office/powerpoint/2010/main" val="1427362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edit, and delete files, Understand file versioning, Use GitHub Desktop for file management</a:t>
            </a:r>
          </a:p>
        </p:txBody>
      </p:sp>
      <p:sp>
        <p:nvSpPr>
          <p:cNvPr id="4" name="Slide Number Placeholder 3"/>
          <p:cNvSpPr>
            <a:spLocks noGrp="1"/>
          </p:cNvSpPr>
          <p:nvPr>
            <p:ph type="sldNum" sz="quarter" idx="5"/>
          </p:nvPr>
        </p:nvSpPr>
        <p:spPr/>
        <p:txBody>
          <a:bodyPr/>
          <a:lstStyle/>
          <a:p>
            <a:fld id="{AC3C3CC0-9D4C-4AA6-8931-017BC229EFED}" type="slidenum">
              <a:t>6</a:t>
            </a:fld>
            <a:endParaRPr lang="en-US"/>
          </a:p>
        </p:txBody>
      </p:sp>
    </p:spTree>
    <p:extLst>
      <p:ext uri="{BB962C8B-B14F-4D97-AF65-F5344CB8AC3E}">
        <p14:creationId xmlns:p14="http://schemas.microsoft.com/office/powerpoint/2010/main" val="777194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Managing files within a GitHub repository involves adding new files, editing existing ones, and deleting obsolete content. These operations can be performed directly on GitHub through the web interface or locally using Git commands. Adding files typically involves creating new documents or code files that contribute to the project. Editing files allows users to update content, fix bugs, or improve documentation. Deleting files helps maintain a clean and relevant codebase by removing outdated or unnecessary items. Each change is tracked through commits, providing a history of modifications and enabling collaboration. GitHub also supports file previews and syntax highlighting for various file types, making it easier to review changes. Understanding how to manage files effectively ensures that the repository remains organized, up-to-date, and aligned with project goals.</a:t>
            </a:r>
          </a:p>
        </p:txBody>
      </p:sp>
      <p:sp>
        <p:nvSpPr>
          <p:cNvPr id="4" name="Slide Number Placeholder 3"/>
          <p:cNvSpPr>
            <a:spLocks noGrp="1"/>
          </p:cNvSpPr>
          <p:nvPr>
            <p:ph type="sldNum" sz="quarter" idx="5"/>
          </p:nvPr>
        </p:nvSpPr>
        <p:spPr/>
        <p:txBody>
          <a:bodyPr/>
          <a:lstStyle/>
          <a:p>
            <a:fld id="{AC3C3CC0-9D4C-4AA6-8931-017BC229EFED}" type="slidenum">
              <a:t>7</a:t>
            </a:fld>
            <a:endParaRPr lang="en-US"/>
          </a:p>
        </p:txBody>
      </p:sp>
    </p:spTree>
    <p:extLst>
      <p:ext uri="{BB962C8B-B14F-4D97-AF65-F5344CB8AC3E}">
        <p14:creationId xmlns:p14="http://schemas.microsoft.com/office/powerpoint/2010/main" val="1090358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File versioning is a core feature of Git and GitHub, enabling users to track changes over time and collaborate efficiently. Every time a file is modified and committed, Git records a snapshot of the change, creating a version history. This allows users to view previous versions, compare changes, and revert to earlier states if necessary. Versioning supports collaborative development by providing transparency and accountability, as each change is associated with a specific user and timestamp. GitHub enhances this functionality with visual diff tools, commit logs, and blame annotations that show who last modified each line of code. Understanding file versioning helps developers maintain code quality, resolve conflicts, and ensure that the project evolves in a controlled and traceable manner.</a:t>
            </a:r>
          </a:p>
        </p:txBody>
      </p:sp>
      <p:sp>
        <p:nvSpPr>
          <p:cNvPr id="4" name="Slide Number Placeholder 3"/>
          <p:cNvSpPr>
            <a:spLocks noGrp="1"/>
          </p:cNvSpPr>
          <p:nvPr>
            <p:ph type="sldNum" sz="quarter" idx="5"/>
          </p:nvPr>
        </p:nvSpPr>
        <p:spPr/>
        <p:txBody>
          <a:bodyPr/>
          <a:lstStyle/>
          <a:p>
            <a:fld id="{AC3C3CC0-9D4C-4AA6-8931-017BC229EFED}" type="slidenum">
              <a:t>8</a:t>
            </a:fld>
            <a:endParaRPr lang="en-US"/>
          </a:p>
        </p:txBody>
      </p:sp>
    </p:spTree>
    <p:extLst>
      <p:ext uri="{BB962C8B-B14F-4D97-AF65-F5344CB8AC3E}">
        <p14:creationId xmlns:p14="http://schemas.microsoft.com/office/powerpoint/2010/main" val="2136104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Desktop is a graphical user interface that simplifies file management and Git operations for users who prefer not to use the command line. It allows users to clone repositories, make changes, commit updates, and push or pull changes with ease. GitHub Desktop provides visual cues for file status, such as modified, added, or deleted files, and supports branching and merging workflows. It also integrates with GitHub to facilitate pull requests and issue tracking. By using GitHub Desktop, developers can manage files more intuitively, reduce errors, and focus on coding rather than command syntax. This tool is especially beneficial for beginners or teams that value a visual approach to version control and collaboration.</a:t>
            </a:r>
          </a:p>
        </p:txBody>
      </p:sp>
      <p:sp>
        <p:nvSpPr>
          <p:cNvPr id="4" name="Slide Number Placeholder 3"/>
          <p:cNvSpPr>
            <a:spLocks noGrp="1"/>
          </p:cNvSpPr>
          <p:nvPr>
            <p:ph type="sldNum" sz="quarter" idx="5"/>
          </p:nvPr>
        </p:nvSpPr>
        <p:spPr/>
        <p:txBody>
          <a:bodyPr/>
          <a:lstStyle/>
          <a:p>
            <a:fld id="{AC3C3CC0-9D4C-4AA6-8931-017BC229EFED}" type="slidenum">
              <a:t>9</a:t>
            </a:fld>
            <a:endParaRPr lang="en-US"/>
          </a:p>
        </p:txBody>
      </p:sp>
    </p:spTree>
    <p:extLst>
      <p:ext uri="{BB962C8B-B14F-4D97-AF65-F5344CB8AC3E}">
        <p14:creationId xmlns:p14="http://schemas.microsoft.com/office/powerpoint/2010/main" val="33372297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11/17/2025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11/17/2025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11/17/2025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11/17/2025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11/17/2025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11/17/2025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11/17/2025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11/17/2025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pic>
        <p:nvPicPr>
          <p:cNvPr id="7" name="Picture 6" descr="A cartoon of a cat holding a magnifying glass&#10;&#10;AI-generated content may be incorrect.">
            <a:extLst>
              <a:ext uri="{FF2B5EF4-FFF2-40B4-BE49-F238E27FC236}">
                <a16:creationId xmlns:a16="http://schemas.microsoft.com/office/drawing/2014/main" id="{1570BB0A-3FD7-0742-3E86-A6D5AAFF8E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43600" y="0"/>
            <a:ext cx="6858000" cy="6858000"/>
          </a:xfrm>
          <a:prstGeom prst="rect">
            <a:avLst/>
          </a:prstGeom>
        </p:spPr>
      </p:pic>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11/17/2025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11/17/2025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11/17/2025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11/17/2025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11/17/2025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11/17/2025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11/17/2025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11/17/2025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11/17/2025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11/17/2025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11/17/2025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11/17/2025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11/17/2025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11/17/2025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11/17/2025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11/17/2025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11/17/2025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11/17/2025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11/17/2025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11/17/2025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11/17/2025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11/17/2025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11/17/2025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11/17/2025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11/17/2025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6691-859A-8CD4-20FD-7B9952C98EB9}"/>
              </a:ext>
            </a:extLst>
          </p:cNvPr>
          <p:cNvSpPr>
            <a:spLocks noGrp="1"/>
          </p:cNvSpPr>
          <p:nvPr>
            <p:ph type="ctrTitle"/>
          </p:nvPr>
        </p:nvSpPr>
        <p:spPr>
          <a:xfrm>
            <a:off x="457200" y="457200"/>
            <a:ext cx="4025153" cy="3739896"/>
          </a:xfrm>
        </p:spPr>
        <p:txBody>
          <a:bodyPr anchor="t">
            <a:normAutofit/>
          </a:bodyPr>
          <a:lstStyle/>
          <a:p>
            <a:r>
              <a:rPr lang="en-US"/>
              <a:t>Working with GitHub Repositories</a:t>
            </a:r>
          </a:p>
        </p:txBody>
      </p:sp>
      <p:sp>
        <p:nvSpPr>
          <p:cNvPr id="3" name="Subtitle 2">
            <a:extLst>
              <a:ext uri="{FF2B5EF4-FFF2-40B4-BE49-F238E27FC236}">
                <a16:creationId xmlns:a16="http://schemas.microsoft.com/office/drawing/2014/main" id="{C828242F-B949-28DA-865E-D40706B57AF0}"/>
              </a:ext>
            </a:extLst>
          </p:cNvPr>
          <p:cNvSpPr>
            <a:spLocks noGrp="1"/>
          </p:cNvSpPr>
          <p:nvPr>
            <p:ph type="subTitle" idx="1"/>
          </p:nvPr>
        </p:nvSpPr>
        <p:spPr>
          <a:xfrm>
            <a:off x="457200" y="5332780"/>
            <a:ext cx="4025153" cy="1016813"/>
          </a:xfrm>
        </p:spPr>
        <p:txBody>
          <a:bodyPr anchor="ctr">
            <a:normAutofit/>
          </a:bodyPr>
          <a:lstStyle/>
          <a:p>
            <a:r>
              <a:rPr lang="en-US"/>
              <a:t>Managing and collaborating on code projects effectively</a:t>
            </a:r>
          </a:p>
        </p:txBody>
      </p:sp>
      <p:pic>
        <p:nvPicPr>
          <p:cNvPr id="4" name="Picture 3" descr="People working on a computer">
            <a:extLst>
              <a:ext uri="{FF2B5EF4-FFF2-40B4-BE49-F238E27FC236}">
                <a16:creationId xmlns:a16="http://schemas.microsoft.com/office/drawing/2014/main" id="{27C18258-1225-4F50-B5AE-1E211FF06195}"/>
              </a:ext>
            </a:extLst>
          </p:cNvPr>
          <p:cNvPicPr>
            <a:picLocks noChangeAspect="1"/>
          </p:cNvPicPr>
          <p:nvPr/>
        </p:nvPicPr>
        <p:blipFill>
          <a:blip r:embed="rId3"/>
          <a:srcRect l="20279" r="10003" b="-1"/>
          <a:stretch>
            <a:fillRect/>
          </a:stretch>
        </p:blipFill>
        <p:spPr>
          <a:xfrm>
            <a:off x="5029201" y="10"/>
            <a:ext cx="7162800" cy="6857990"/>
          </a:xfrm>
          <a:prstGeom prst="rect">
            <a:avLst/>
          </a:prstGeom>
          <a:noFill/>
        </p:spPr>
      </p:pic>
    </p:spTree>
    <p:extLst>
      <p:ext uri="{BB962C8B-B14F-4D97-AF65-F5344CB8AC3E}">
        <p14:creationId xmlns:p14="http://schemas.microsoft.com/office/powerpoint/2010/main" val="4195200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6410-C17B-5094-0FFE-933AF7C93D01}"/>
              </a:ext>
            </a:extLst>
          </p:cNvPr>
          <p:cNvSpPr>
            <a:spLocks noGrp="1"/>
          </p:cNvSpPr>
          <p:nvPr>
            <p:ph type="ctrTitle"/>
          </p:nvPr>
        </p:nvSpPr>
        <p:spPr>
          <a:xfrm>
            <a:off x="457197" y="3507830"/>
            <a:ext cx="7772400" cy="2944368"/>
          </a:xfrm>
        </p:spPr>
        <p:txBody>
          <a:bodyPr anchor="b">
            <a:normAutofit/>
          </a:bodyPr>
          <a:lstStyle/>
          <a:p>
            <a:r>
              <a:rPr lang="en-US" sz="6800"/>
              <a:t>Manage Repository Settings</a:t>
            </a:r>
          </a:p>
        </p:txBody>
      </p:sp>
    </p:spTree>
    <p:extLst>
      <p:ext uri="{BB962C8B-B14F-4D97-AF65-F5344CB8AC3E}">
        <p14:creationId xmlns:p14="http://schemas.microsoft.com/office/powerpoint/2010/main" val="3011420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ABB1-6238-0AD7-17CA-740D95DA27CD}"/>
              </a:ext>
            </a:extLst>
          </p:cNvPr>
          <p:cNvSpPr>
            <a:spLocks noGrp="1"/>
          </p:cNvSpPr>
          <p:nvPr>
            <p:ph type="title"/>
          </p:nvPr>
        </p:nvSpPr>
        <p:spPr>
          <a:xfrm>
            <a:off x="457200" y="457200"/>
            <a:ext cx="4380272" cy="1453896"/>
          </a:xfrm>
        </p:spPr>
        <p:txBody>
          <a:bodyPr anchor="t">
            <a:normAutofit/>
          </a:bodyPr>
          <a:lstStyle/>
          <a:p>
            <a:r>
              <a:rPr lang="en-US"/>
              <a:t>Configure repository settings</a:t>
            </a:r>
          </a:p>
        </p:txBody>
      </p:sp>
      <p:pic>
        <p:nvPicPr>
          <p:cNvPr id="5" name="Content Placeholder 4" descr="Horizontal landscape photo of massive lichen covered, ancient granite boulders lying amongst shrubs, bushes and eucalyptus trees in the New England high country near Armidale NSW on a cloudy day">
            <a:extLst>
              <a:ext uri="{FF2B5EF4-FFF2-40B4-BE49-F238E27FC236}">
                <a16:creationId xmlns:a16="http://schemas.microsoft.com/office/drawing/2014/main" id="{8A06B557-C0CA-41D6-AEAC-9D0E3B3CBC66}"/>
              </a:ext>
            </a:extLst>
          </p:cNvPr>
          <p:cNvPicPr>
            <a:picLocks noGrp="1" noChangeAspect="1"/>
          </p:cNvPicPr>
          <p:nvPr>
            <p:ph type="pic" sz="quarter" idx="13"/>
          </p:nvPr>
        </p:nvPicPr>
        <p:blipFill>
          <a:blip r:embed="rId3"/>
          <a:srcRect l="380" r="10175"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F1350CD2-2B3E-0F44-B52A-AB87386D39E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Repository Visibility</a:t>
            </a:r>
          </a:p>
          <a:p>
            <a:pPr marL="0" lvl="1" indent="0">
              <a:buFont typeface="Arial" panose="020B0604020202020204" pitchFamily="34" charset="0"/>
              <a:buNone/>
            </a:pPr>
            <a:r>
              <a:t>Users can configure repository visibility to be either public or private based on project needs.</a:t>
            </a:r>
            <a:endParaRPr lang="en-US"/>
          </a:p>
          <a:p>
            <a:pPr marL="0" indent="0">
              <a:spcBef>
                <a:spcPts val="2500"/>
              </a:spcBef>
              <a:buFont typeface="Arial" panose="020B0604020202020204" pitchFamily="34" charset="0"/>
              <a:buNone/>
            </a:pPr>
            <a:r>
              <a:rPr lang="en-US" b="1"/>
              <a:t>Default Branch Configuration</a:t>
            </a:r>
          </a:p>
          <a:p>
            <a:pPr marL="0" lvl="1" indent="0">
              <a:buFont typeface="Arial" panose="020B0604020202020204" pitchFamily="34" charset="0"/>
              <a:buNone/>
            </a:pPr>
            <a:r>
              <a:t>Setting a default branch streamlines pull request workflows and organizes development processes.</a:t>
            </a:r>
            <a:endParaRPr lang="en-US"/>
          </a:p>
          <a:p>
            <a:pPr marL="0" indent="0">
              <a:spcBef>
                <a:spcPts val="2500"/>
              </a:spcBef>
              <a:buFont typeface="Arial" panose="020B0604020202020204" pitchFamily="34" charset="0"/>
              <a:buNone/>
            </a:pPr>
            <a:r>
              <a:rPr lang="en-US" b="1"/>
              <a:t>Feature Toggles</a:t>
            </a:r>
          </a:p>
          <a:p>
            <a:pPr marL="0" lvl="1" indent="0">
              <a:buFont typeface="Arial" panose="020B0604020202020204" pitchFamily="34" charset="0"/>
              <a:buNone/>
            </a:pPr>
            <a:r>
              <a:t>Enabling or disabling features like issues, wikis, and GitHub Pages customizes the repository to collaboration needs.</a:t>
            </a:r>
            <a:endParaRPr lang="en-US"/>
          </a:p>
          <a:p>
            <a:pPr marL="0" indent="0">
              <a:spcBef>
                <a:spcPts val="2500"/>
              </a:spcBef>
              <a:buFont typeface="Arial" panose="020B0604020202020204" pitchFamily="34" charset="0"/>
              <a:buNone/>
            </a:pPr>
            <a:r>
              <a:rPr lang="en-US" b="1"/>
              <a:t>Repository Lifecycle Management</a:t>
            </a:r>
          </a:p>
          <a:p>
            <a:pPr marL="0" lvl="1" indent="0">
              <a:buFont typeface="Arial" panose="020B0604020202020204" pitchFamily="34" charset="0"/>
              <a:buNone/>
            </a:pPr>
            <a:r>
              <a:t>Options for archiving, transferring ownership, and deleting repositories help maintain project lifecycle control.</a:t>
            </a:r>
            <a:endParaRPr lang="en-US"/>
          </a:p>
        </p:txBody>
      </p:sp>
    </p:spTree>
    <p:extLst>
      <p:ext uri="{BB962C8B-B14F-4D97-AF65-F5344CB8AC3E}">
        <p14:creationId xmlns:p14="http://schemas.microsoft.com/office/powerpoint/2010/main" val="719415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A017-BD4E-C999-A5DD-A4BE7AE55AF7}"/>
              </a:ext>
            </a:extLst>
          </p:cNvPr>
          <p:cNvSpPr>
            <a:spLocks noGrp="1"/>
          </p:cNvSpPr>
          <p:nvPr>
            <p:ph type="title"/>
          </p:nvPr>
        </p:nvSpPr>
        <p:spPr>
          <a:xfrm>
            <a:off x="457200" y="457200"/>
            <a:ext cx="4380272" cy="1453896"/>
          </a:xfrm>
        </p:spPr>
        <p:txBody>
          <a:bodyPr anchor="t">
            <a:normAutofit/>
          </a:bodyPr>
          <a:lstStyle/>
          <a:p>
            <a:r>
              <a:rPr lang="en-US"/>
              <a:t>Set up repository permissions</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8AF4BC78-BA08-4367-87E1-E018CAD85749}"/>
              </a:ext>
            </a:extLst>
          </p:cNvPr>
          <p:cNvPicPr>
            <a:picLocks noGrp="1" noChangeAspect="1"/>
          </p:cNvPicPr>
          <p:nvPr>
            <p:ph type="pic" sz="quarter" idx="13"/>
          </p:nvPr>
        </p:nvPicPr>
        <p:blipFill>
          <a:blip r:embed="rId3"/>
          <a:srcRect r="10556"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53AF5736-1285-8720-10E4-4D2781585F1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Importance of Permissions</a:t>
            </a:r>
          </a:p>
          <a:p>
            <a:pPr marL="0" lvl="1" indent="0">
              <a:buFont typeface="Arial" panose="020B0604020202020204" pitchFamily="34" charset="0"/>
              <a:buNone/>
            </a:pPr>
            <a:r>
              <a:t>Setting repository permissions is vital to secure collaboration and prevent unauthorized changes in development projects.</a:t>
            </a:r>
            <a:endParaRPr lang="en-US"/>
          </a:p>
          <a:p>
            <a:pPr marL="0" indent="0">
              <a:spcBef>
                <a:spcPts val="2500"/>
              </a:spcBef>
              <a:buFont typeface="Arial" panose="020B0604020202020204" pitchFamily="34" charset="0"/>
              <a:buNone/>
            </a:pPr>
            <a:r>
              <a:rPr lang="en-US" b="1"/>
              <a:t>Role-Based Access Control</a:t>
            </a:r>
          </a:p>
          <a:p>
            <a:pPr marL="0" lvl="1" indent="0">
              <a:buFont typeface="Arial" panose="020B0604020202020204" pitchFamily="34" charset="0"/>
              <a:buNone/>
            </a:pPr>
            <a:r>
              <a:t>GitHub provides roles like read-only, write, and admin to manage user capabilities within repositories efficiently.</a:t>
            </a:r>
            <a:endParaRPr lang="en-US"/>
          </a:p>
          <a:p>
            <a:pPr marL="0" indent="0">
              <a:spcBef>
                <a:spcPts val="2500"/>
              </a:spcBef>
              <a:buFont typeface="Arial" panose="020B0604020202020204" pitchFamily="34" charset="0"/>
              <a:buNone/>
            </a:pPr>
            <a:r>
              <a:rPr lang="en-US" b="1"/>
              <a:t>Team Management</a:t>
            </a:r>
          </a:p>
          <a:p>
            <a:pPr marL="0" lvl="1" indent="0">
              <a:buFont typeface="Arial" panose="020B0604020202020204" pitchFamily="34" charset="0"/>
              <a:buNone/>
            </a:pPr>
            <a:r>
              <a:t>For organizations, teams group members to easily manage access across multiple repositories securely and efficiently.</a:t>
            </a:r>
            <a:endParaRPr lang="en-US"/>
          </a:p>
          <a:p>
            <a:pPr marL="0" indent="0">
              <a:spcBef>
                <a:spcPts val="2500"/>
              </a:spcBef>
              <a:buFont typeface="Arial" panose="020B0604020202020204" pitchFamily="34" charset="0"/>
              <a:buNone/>
            </a:pPr>
            <a:r>
              <a:rPr lang="en-US" b="1"/>
              <a:t>Branch Protection Rules</a:t>
            </a:r>
          </a:p>
          <a:p>
            <a:pPr marL="0" lvl="1" indent="0">
              <a:buFont typeface="Arial" panose="020B0604020202020204" pitchFamily="34" charset="0"/>
              <a:buNone/>
            </a:pPr>
            <a:r>
              <a:t>Branch protection rules restrict who can push or require reviews, enhancing code quality and security control.</a:t>
            </a:r>
            <a:endParaRPr lang="en-US"/>
          </a:p>
        </p:txBody>
      </p:sp>
    </p:spTree>
    <p:extLst>
      <p:ext uri="{BB962C8B-B14F-4D97-AF65-F5344CB8AC3E}">
        <p14:creationId xmlns:p14="http://schemas.microsoft.com/office/powerpoint/2010/main" val="3587015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A3000-1B72-33FA-B068-C36F3807517D}"/>
              </a:ext>
            </a:extLst>
          </p:cNvPr>
          <p:cNvSpPr>
            <a:spLocks noGrp="1"/>
          </p:cNvSpPr>
          <p:nvPr>
            <p:ph type="title"/>
          </p:nvPr>
        </p:nvSpPr>
        <p:spPr>
          <a:xfrm>
            <a:off x="457200" y="457200"/>
            <a:ext cx="4380272" cy="1453896"/>
          </a:xfrm>
        </p:spPr>
        <p:txBody>
          <a:bodyPr anchor="t">
            <a:normAutofit/>
          </a:bodyPr>
          <a:lstStyle/>
          <a:p>
            <a:r>
              <a:rPr lang="en-US"/>
              <a:t>Use repository templates</a:t>
            </a:r>
          </a:p>
        </p:txBody>
      </p:sp>
      <p:pic>
        <p:nvPicPr>
          <p:cNvPr id="5" name="Content Placeholder 4" descr="Cropped shot of a handsome young man smiling while reading a sticky note in a modern office">
            <a:extLst>
              <a:ext uri="{FF2B5EF4-FFF2-40B4-BE49-F238E27FC236}">
                <a16:creationId xmlns:a16="http://schemas.microsoft.com/office/drawing/2014/main" id="{EEF147A2-EE05-45CF-A308-374E2742C4F1}"/>
              </a:ext>
            </a:extLst>
          </p:cNvPr>
          <p:cNvPicPr>
            <a:picLocks noGrp="1" noChangeAspect="1"/>
          </p:cNvPicPr>
          <p:nvPr>
            <p:ph type="pic" sz="quarter" idx="13"/>
          </p:nvPr>
        </p:nvPicPr>
        <p:blipFill>
          <a:blip r:embed="rId3"/>
          <a:srcRect l="1920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6FC921CB-26BC-1F46-1A64-5AB4598BAEB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Standardized Project Setup</a:t>
            </a:r>
          </a:p>
          <a:p>
            <a:pPr marL="0" lvl="1" indent="0">
              <a:buFont typeface="Arial" panose="020B0604020202020204" pitchFamily="34" charset="0"/>
              <a:buNone/>
            </a:pPr>
            <a:r>
              <a:t>Repository templates provide a pre-configured starting point with essential files for consistent project structure.</a:t>
            </a:r>
            <a:endParaRPr lang="en-US"/>
          </a:p>
          <a:p>
            <a:pPr marL="0" indent="0">
              <a:spcBef>
                <a:spcPts val="2500"/>
              </a:spcBef>
              <a:buFont typeface="Arial" panose="020B0604020202020204" pitchFamily="34" charset="0"/>
              <a:buNone/>
            </a:pPr>
            <a:r>
              <a:rPr lang="en-US" b="1"/>
              <a:t>Accelerated Onboarding</a:t>
            </a:r>
          </a:p>
          <a:p>
            <a:pPr marL="0" lvl="1" indent="0">
              <a:buFont typeface="Arial" panose="020B0604020202020204" pitchFamily="34" charset="0"/>
              <a:buNone/>
            </a:pPr>
            <a:r>
              <a:t>Templates accelerate onboarding by allowing new repositories to inherit existing structures and configurations.</a:t>
            </a:r>
            <a:endParaRPr lang="en-US"/>
          </a:p>
          <a:p>
            <a:pPr marL="0" indent="0">
              <a:spcBef>
                <a:spcPts val="2500"/>
              </a:spcBef>
              <a:buFont typeface="Arial" panose="020B0604020202020204" pitchFamily="34" charset="0"/>
              <a:buNone/>
            </a:pPr>
            <a:r>
              <a:rPr lang="en-US" b="1"/>
              <a:t>Consistent CI/CD Pipelines</a:t>
            </a:r>
          </a:p>
          <a:p>
            <a:pPr marL="0" lvl="1" indent="0">
              <a:buFont typeface="Arial" panose="020B0604020202020204" pitchFamily="34" charset="0"/>
              <a:buNone/>
            </a:pPr>
            <a:r>
              <a:t>Templates include GitHub Actions workflows, ensuring automated CI/CD pipelines from project initiation.</a:t>
            </a:r>
            <a:endParaRPr lang="en-US"/>
          </a:p>
          <a:p>
            <a:pPr marL="0" indent="0">
              <a:spcBef>
                <a:spcPts val="2500"/>
              </a:spcBef>
              <a:buFont typeface="Arial" panose="020B0604020202020204" pitchFamily="34" charset="0"/>
              <a:buNone/>
            </a:pPr>
            <a:r>
              <a:rPr lang="en-US" b="1"/>
              <a:t>Error Reduction and Best Practices</a:t>
            </a:r>
          </a:p>
          <a:p>
            <a:pPr marL="0" lvl="1" indent="0">
              <a:buFont typeface="Arial" panose="020B0604020202020204" pitchFamily="34" charset="0"/>
              <a:buNone/>
            </a:pPr>
            <a:r>
              <a:t>Using templates reduces setup errors and enforces best practices across multiple projects and teams.</a:t>
            </a:r>
            <a:endParaRPr lang="en-US"/>
          </a:p>
        </p:txBody>
      </p:sp>
    </p:spTree>
    <p:extLst>
      <p:ext uri="{BB962C8B-B14F-4D97-AF65-F5344CB8AC3E}">
        <p14:creationId xmlns:p14="http://schemas.microsoft.com/office/powerpoint/2010/main" val="95788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12CC-0E7C-2220-7242-B1E581CE48F0}"/>
              </a:ext>
            </a:extLst>
          </p:cNvPr>
          <p:cNvSpPr>
            <a:spLocks noGrp="1"/>
          </p:cNvSpPr>
          <p:nvPr>
            <p:ph type="ctrTitle"/>
          </p:nvPr>
        </p:nvSpPr>
        <p:spPr>
          <a:xfrm>
            <a:off x="457197" y="3507830"/>
            <a:ext cx="7772400" cy="2944368"/>
          </a:xfrm>
        </p:spPr>
        <p:txBody>
          <a:bodyPr anchor="b">
            <a:normAutofit/>
          </a:bodyPr>
          <a:lstStyle/>
          <a:p>
            <a:r>
              <a:rPr lang="en-US"/>
              <a:t>Work with Files in a Repository</a:t>
            </a:r>
          </a:p>
        </p:txBody>
      </p:sp>
    </p:spTree>
    <p:extLst>
      <p:ext uri="{BB962C8B-B14F-4D97-AF65-F5344CB8AC3E}">
        <p14:creationId xmlns:p14="http://schemas.microsoft.com/office/powerpoint/2010/main" val="3719453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3733-8D2A-37BC-80C2-E20EC53BB953}"/>
              </a:ext>
            </a:extLst>
          </p:cNvPr>
          <p:cNvSpPr>
            <a:spLocks noGrp="1"/>
          </p:cNvSpPr>
          <p:nvPr>
            <p:ph type="title"/>
          </p:nvPr>
        </p:nvSpPr>
        <p:spPr>
          <a:xfrm>
            <a:off x="457200" y="457200"/>
            <a:ext cx="4380272" cy="1453896"/>
          </a:xfrm>
        </p:spPr>
        <p:txBody>
          <a:bodyPr anchor="t">
            <a:normAutofit/>
          </a:bodyPr>
          <a:lstStyle/>
          <a:p>
            <a:r>
              <a:rPr lang="en-US"/>
              <a:t>Add, edit, and delete files</a:t>
            </a:r>
          </a:p>
        </p:txBody>
      </p:sp>
      <p:pic>
        <p:nvPicPr>
          <p:cNvPr id="5" name="Content Placeholder 4" descr="Shot of young woman programming at her home office.">
            <a:extLst>
              <a:ext uri="{FF2B5EF4-FFF2-40B4-BE49-F238E27FC236}">
                <a16:creationId xmlns:a16="http://schemas.microsoft.com/office/drawing/2014/main" id="{00461A94-8DBB-436F-A5C3-F265A820AC37}"/>
              </a:ext>
            </a:extLst>
          </p:cNvPr>
          <p:cNvPicPr>
            <a:picLocks noGrp="1" noChangeAspect="1"/>
          </p:cNvPicPr>
          <p:nvPr>
            <p:ph type="pic" sz="quarter" idx="13"/>
          </p:nvPr>
        </p:nvPicPr>
        <p:blipFill>
          <a:blip r:embed="rId3"/>
          <a:srcRect l="7516" r="12878"/>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B1AFD4F2-C978-5630-A35E-AD49B20D35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Adding Files</a:t>
            </a:r>
          </a:p>
          <a:p>
            <a:pPr marL="0" lvl="1" indent="0">
              <a:buFont typeface="Arial" panose="020B0604020202020204" pitchFamily="34" charset="0"/>
              <a:buNone/>
            </a:pPr>
            <a:r>
              <a:t>Adding files involves creating new documents or code files that enhance the project and can be done via web or Git commands.</a:t>
            </a:r>
            <a:endParaRPr lang="en-US"/>
          </a:p>
          <a:p>
            <a:pPr marL="0" indent="0">
              <a:spcBef>
                <a:spcPts val="2500"/>
              </a:spcBef>
              <a:buFont typeface="Arial" panose="020B0604020202020204" pitchFamily="34" charset="0"/>
              <a:buNone/>
            </a:pPr>
            <a:r>
              <a:rPr lang="en-US" b="1"/>
              <a:t>Editing Files</a:t>
            </a:r>
          </a:p>
          <a:p>
            <a:pPr marL="0" lvl="1" indent="0">
              <a:buFont typeface="Arial" panose="020B0604020202020204" pitchFamily="34" charset="0"/>
              <a:buNone/>
            </a:pPr>
            <a:r>
              <a:t>Editing files updates content, fixes bugs, or improves documentation with changes tracked through commits for collaboration.</a:t>
            </a:r>
            <a:endParaRPr lang="en-US"/>
          </a:p>
          <a:p>
            <a:pPr marL="0" indent="0">
              <a:spcBef>
                <a:spcPts val="2500"/>
              </a:spcBef>
              <a:buFont typeface="Arial" panose="020B0604020202020204" pitchFamily="34" charset="0"/>
              <a:buNone/>
            </a:pPr>
            <a:r>
              <a:rPr lang="en-US" b="1"/>
              <a:t>Deleting Files</a:t>
            </a:r>
          </a:p>
          <a:p>
            <a:pPr marL="0" lvl="1" indent="0">
              <a:buFont typeface="Arial" panose="020B0604020202020204" pitchFamily="34" charset="0"/>
              <a:buNone/>
            </a:pPr>
            <a:r>
              <a:t>Deleting obsolete files keeps the repository clean and relevant by removing unnecessary content efficiently.</a:t>
            </a:r>
            <a:endParaRPr lang="en-US"/>
          </a:p>
          <a:p>
            <a:pPr marL="0" indent="0">
              <a:spcBef>
                <a:spcPts val="2500"/>
              </a:spcBef>
              <a:buFont typeface="Arial" panose="020B0604020202020204" pitchFamily="34" charset="0"/>
              <a:buNone/>
            </a:pPr>
            <a:r>
              <a:rPr lang="en-US" b="1"/>
              <a:t>Change Tracking and Review</a:t>
            </a:r>
          </a:p>
          <a:p>
            <a:pPr marL="0" lvl="1" indent="0">
              <a:buFont typeface="Arial" panose="020B0604020202020204" pitchFamily="34" charset="0"/>
              <a:buNone/>
            </a:pPr>
            <a:r>
              <a:t>Commits track all changes enabling history review, collaboration, and GitHub’s file previews aid in change verification.</a:t>
            </a:r>
            <a:endParaRPr lang="en-US"/>
          </a:p>
        </p:txBody>
      </p:sp>
    </p:spTree>
    <p:extLst>
      <p:ext uri="{BB962C8B-B14F-4D97-AF65-F5344CB8AC3E}">
        <p14:creationId xmlns:p14="http://schemas.microsoft.com/office/powerpoint/2010/main" val="374911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8A251-1600-1D8A-EFA6-AFED43D46ED2}"/>
              </a:ext>
            </a:extLst>
          </p:cNvPr>
          <p:cNvSpPr>
            <a:spLocks noGrp="1"/>
          </p:cNvSpPr>
          <p:nvPr>
            <p:ph type="title"/>
          </p:nvPr>
        </p:nvSpPr>
        <p:spPr>
          <a:xfrm>
            <a:off x="457200" y="457200"/>
            <a:ext cx="4380272" cy="1453896"/>
          </a:xfrm>
        </p:spPr>
        <p:txBody>
          <a:bodyPr anchor="t">
            <a:normAutofit/>
          </a:bodyPr>
          <a:lstStyle/>
          <a:p>
            <a:r>
              <a:rPr lang="en-US"/>
              <a:t>Understand file versioning</a:t>
            </a:r>
          </a:p>
        </p:txBody>
      </p:sp>
      <p:pic>
        <p:nvPicPr>
          <p:cNvPr id="5" name="Content Placeholder 4"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0E1A3FBD-2794-42AD-B036-05B4B446CF3E}"/>
              </a:ext>
            </a:extLst>
          </p:cNvPr>
          <p:cNvPicPr>
            <a:picLocks noGrp="1" noChangeAspect="1"/>
          </p:cNvPicPr>
          <p:nvPr>
            <p:ph type="pic" sz="quarter" idx="13"/>
          </p:nvPr>
        </p:nvPicPr>
        <p:blipFill>
          <a:blip r:embed="rId3"/>
          <a:stretch/>
        </p:blipFill>
        <p:spPr>
          <a:xfrm>
            <a:off x="0" y="2946263"/>
            <a:ext cx="5584206" cy="3141115"/>
          </a:xfrm>
          <a:prstGeom prst="rect">
            <a:avLst/>
          </a:prstGeom>
          <a:noFill/>
        </p:spPr>
      </p:pic>
      <p:sp>
        <p:nvSpPr>
          <p:cNvPr id="4" name="Content Placeholder 3">
            <a:extLst>
              <a:ext uri="{FF2B5EF4-FFF2-40B4-BE49-F238E27FC236}">
                <a16:creationId xmlns:a16="http://schemas.microsoft.com/office/drawing/2014/main" id="{08F2B5CD-B78C-8627-33E3-78B238621AE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Tracking Changes Over Time</a:t>
            </a:r>
          </a:p>
          <a:p>
            <a:pPr marL="0" lvl="1" indent="0">
              <a:buFont typeface="Arial" panose="020B0604020202020204" pitchFamily="34" charset="0"/>
              <a:buNone/>
            </a:pPr>
            <a:r>
              <a:t>Git records snapshots of file changes with each commit, creating a detailed version history.</a:t>
            </a:r>
            <a:endParaRPr lang="en-US"/>
          </a:p>
          <a:p>
            <a:pPr marL="0" indent="0">
              <a:spcBef>
                <a:spcPts val="2500"/>
              </a:spcBef>
              <a:buFont typeface="Arial" panose="020B0604020202020204" pitchFamily="34" charset="0"/>
              <a:buNone/>
            </a:pPr>
            <a:r>
              <a:rPr lang="en-US" b="1"/>
              <a:t>Collaboration and Accountability</a:t>
            </a:r>
          </a:p>
          <a:p>
            <a:pPr marL="0" lvl="1" indent="0">
              <a:buFont typeface="Arial" panose="020B0604020202020204" pitchFamily="34" charset="0"/>
              <a:buNone/>
            </a:pPr>
            <a:r>
              <a:t>Versioning links changes to users and timestamps, enabling transparent collaborative development.</a:t>
            </a:r>
            <a:endParaRPr lang="en-US"/>
          </a:p>
          <a:p>
            <a:pPr marL="0" indent="0">
              <a:spcBef>
                <a:spcPts val="2500"/>
              </a:spcBef>
              <a:buFont typeface="Arial" panose="020B0604020202020204" pitchFamily="34" charset="0"/>
              <a:buNone/>
            </a:pPr>
            <a:r>
              <a:rPr lang="en-US" b="1"/>
              <a:t>Viewing and Reverting Changes</a:t>
            </a:r>
          </a:p>
          <a:p>
            <a:pPr marL="0" lvl="1" indent="0">
              <a:buFont typeface="Arial" panose="020B0604020202020204" pitchFamily="34" charset="0"/>
              <a:buNone/>
            </a:pPr>
            <a:r>
              <a:t>Users can compare versions, view diffs, and revert to earlier file states when needed.</a:t>
            </a:r>
            <a:endParaRPr lang="en-US"/>
          </a:p>
          <a:p>
            <a:pPr marL="0" indent="0">
              <a:spcBef>
                <a:spcPts val="2500"/>
              </a:spcBef>
              <a:buFont typeface="Arial" panose="020B0604020202020204" pitchFamily="34" charset="0"/>
              <a:buNone/>
            </a:pPr>
            <a:r>
              <a:rPr lang="en-US" b="1"/>
              <a:t>Enhancements in GitHub</a:t>
            </a:r>
          </a:p>
          <a:p>
            <a:pPr marL="0" lvl="1" indent="0">
              <a:buFont typeface="Arial" panose="020B0604020202020204" pitchFamily="34" charset="0"/>
              <a:buNone/>
            </a:pPr>
            <a:r>
              <a:t>GitHub provides visual diff tools, commit logs, and blame annotations to improve version management.</a:t>
            </a:r>
            <a:endParaRPr lang="en-US"/>
          </a:p>
        </p:txBody>
      </p:sp>
    </p:spTree>
    <p:extLst>
      <p:ext uri="{BB962C8B-B14F-4D97-AF65-F5344CB8AC3E}">
        <p14:creationId xmlns:p14="http://schemas.microsoft.com/office/powerpoint/2010/main" val="29533933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DB13B-8AB1-384D-850C-ADBCCECE6112}"/>
              </a:ext>
            </a:extLst>
          </p:cNvPr>
          <p:cNvSpPr>
            <a:spLocks noGrp="1"/>
          </p:cNvSpPr>
          <p:nvPr>
            <p:ph type="title"/>
          </p:nvPr>
        </p:nvSpPr>
        <p:spPr>
          <a:xfrm>
            <a:off x="457200" y="457200"/>
            <a:ext cx="4380272" cy="1453896"/>
          </a:xfrm>
        </p:spPr>
        <p:txBody>
          <a:bodyPr anchor="t">
            <a:normAutofit/>
          </a:bodyPr>
          <a:lstStyle/>
          <a:p>
            <a:r>
              <a:rPr lang="en-US"/>
              <a:t>Use GitHub Desktop for file management</a:t>
            </a:r>
          </a:p>
        </p:txBody>
      </p:sp>
      <p:pic>
        <p:nvPicPr>
          <p:cNvPr id="5" name="Content Placeholder 4" descr="Document with repair tools symbol on blue abstract background">
            <a:extLst>
              <a:ext uri="{FF2B5EF4-FFF2-40B4-BE49-F238E27FC236}">
                <a16:creationId xmlns:a16="http://schemas.microsoft.com/office/drawing/2014/main" id="{AC9AC2B3-D312-4C36-BDF5-3FBE81E7DD2A}"/>
              </a:ext>
            </a:extLst>
          </p:cNvPr>
          <p:cNvPicPr>
            <a:picLocks noGrp="1" noChangeAspect="1"/>
          </p:cNvPicPr>
          <p:nvPr>
            <p:ph type="pic" sz="quarter" idx="13"/>
          </p:nvPr>
        </p:nvPicPr>
        <p:blipFill>
          <a:blip r:embed="rId3"/>
          <a:srcRect l="15910" r="17005" b="-2"/>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68CD449C-48A6-2426-3CED-E897A1F98DD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Simplifies Git Operations</a:t>
            </a:r>
          </a:p>
          <a:p>
            <a:pPr marL="0" lvl="1" indent="0">
              <a:buFont typeface="Arial" panose="020B0604020202020204" pitchFamily="34" charset="0"/>
              <a:buNone/>
            </a:pPr>
            <a:r>
              <a:t>GitHub Desktop provides an easy graphical interface for cloning, committing, pushing, and pulling repositories.</a:t>
            </a:r>
            <a:endParaRPr lang="en-US"/>
          </a:p>
          <a:p>
            <a:pPr marL="0" indent="0">
              <a:spcBef>
                <a:spcPts val="2500"/>
              </a:spcBef>
              <a:buFont typeface="Arial" panose="020B0604020202020204" pitchFamily="34" charset="0"/>
              <a:buNone/>
            </a:pPr>
            <a:r>
              <a:rPr lang="en-US" b="1"/>
              <a:t>Visual File Status</a:t>
            </a:r>
          </a:p>
          <a:p>
            <a:pPr marL="0" lvl="1" indent="0">
              <a:buFont typeface="Arial" panose="020B0604020202020204" pitchFamily="34" charset="0"/>
              <a:buNone/>
            </a:pPr>
            <a:r>
              <a:t>It displays visual cues for file changes like modified, added, or deleted files for easy tracking.</a:t>
            </a:r>
            <a:endParaRPr lang="en-US"/>
          </a:p>
          <a:p>
            <a:pPr marL="0" indent="0">
              <a:spcBef>
                <a:spcPts val="2500"/>
              </a:spcBef>
              <a:buFont typeface="Arial" panose="020B0604020202020204" pitchFamily="34" charset="0"/>
              <a:buNone/>
            </a:pPr>
            <a:r>
              <a:rPr lang="en-US" b="1"/>
              <a:t>Supports Branching and Merging</a:t>
            </a:r>
          </a:p>
          <a:p>
            <a:pPr marL="0" lvl="1" indent="0">
              <a:buFont typeface="Arial" panose="020B0604020202020204" pitchFamily="34" charset="0"/>
              <a:buNone/>
            </a:pPr>
            <a:r>
              <a:t>Branching and merging workflows are supported, helping to manage code versions effectively.</a:t>
            </a:r>
            <a:endParaRPr lang="en-US"/>
          </a:p>
          <a:p>
            <a:pPr marL="0" indent="0">
              <a:spcBef>
                <a:spcPts val="2500"/>
              </a:spcBef>
              <a:buFont typeface="Arial" panose="020B0604020202020204" pitchFamily="34" charset="0"/>
              <a:buNone/>
            </a:pPr>
            <a:r>
              <a:rPr lang="en-US" b="1"/>
              <a:t>Facilitates Collaboration</a:t>
            </a:r>
          </a:p>
          <a:p>
            <a:pPr marL="0" lvl="1" indent="0">
              <a:buFont typeface="Arial" panose="020B0604020202020204" pitchFamily="34" charset="0"/>
              <a:buNone/>
            </a:pPr>
            <a:r>
              <a:t>Integrates with GitHub for pull requests and issue tracking, enhancing team collaboration.</a:t>
            </a:r>
            <a:endParaRPr lang="en-US"/>
          </a:p>
        </p:txBody>
      </p:sp>
    </p:spTree>
    <p:extLst>
      <p:ext uri="{BB962C8B-B14F-4D97-AF65-F5344CB8AC3E}">
        <p14:creationId xmlns:p14="http://schemas.microsoft.com/office/powerpoint/2010/main" val="1334594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3.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1009</TotalTime>
  <Words>1408</Words>
  <Application>Microsoft Office PowerPoint</Application>
  <PresentationFormat>Widescreen</PresentationFormat>
  <Paragraphs>76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Bierstadt</vt:lpstr>
      <vt:lpstr>Calibri</vt:lpstr>
      <vt:lpstr>Bevel</vt:lpstr>
      <vt:lpstr>Working with GitHub Repositories</vt:lpstr>
      <vt:lpstr>Manage Repository Settings</vt:lpstr>
      <vt:lpstr>Configure repository settings</vt:lpstr>
      <vt:lpstr>Set up repository permissions</vt:lpstr>
      <vt:lpstr>Use repository templates</vt:lpstr>
      <vt:lpstr>Work with Files in a Repository</vt:lpstr>
      <vt:lpstr>Add, edit, and delete files</vt:lpstr>
      <vt:lpstr>Understand file versioning</vt:lpstr>
      <vt:lpstr>Use GitHub Desktop for file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Evrigenis, BillX</dc:creator>
  <cp:lastModifiedBy>Evrigenis, BillX</cp:lastModifiedBy>
  <cp:revision>4</cp:revision>
  <dcterms:created xsi:type="dcterms:W3CDTF">2025-08-21T02:25:28Z</dcterms:created>
  <dcterms:modified xsi:type="dcterms:W3CDTF">2025-11-18T00:51:57Z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